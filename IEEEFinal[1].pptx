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77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204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928731" cy="470001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359184"/>
            <a:ext cx="6260765" cy="392781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06100" y="2652"/>
            <a:ext cx="7581899" cy="1028434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897" y="2346313"/>
            <a:ext cx="2295524" cy="263842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7619196"/>
            <a:ext cx="5342596" cy="26678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26913" y="1664932"/>
            <a:ext cx="5561086" cy="71818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94537" y="1782553"/>
            <a:ext cx="7298925" cy="1060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868695" y="5701425"/>
            <a:ext cx="10550609" cy="1047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204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79495" y="0"/>
            <a:ext cx="4708505" cy="89789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357024" cy="524733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860377"/>
            <a:ext cx="1905879" cy="242662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132873" y="0"/>
            <a:ext cx="1155126" cy="321570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7997" cy="1314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20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5180" y="4117538"/>
            <a:ext cx="10737638" cy="2319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9.jpg"/><Relationship Id="rId4" Type="http://schemas.openxmlformats.org/officeDocument/2006/relationships/image" Target="../media/image14.png"/><Relationship Id="rId9" Type="http://schemas.openxmlformats.org/officeDocument/2006/relationships/image" Target="../media/image1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21.png"/><Relationship Id="rId7" Type="http://schemas.openxmlformats.org/officeDocument/2006/relationships/image" Target="../media/image19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1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30.png"/><Relationship Id="rId7" Type="http://schemas.openxmlformats.org/officeDocument/2006/relationships/image" Target="../media/image19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9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g"/><Relationship Id="rId5" Type="http://schemas.openxmlformats.org/officeDocument/2006/relationships/image" Target="../media/image11.jp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932841" cy="48817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544095"/>
            <a:ext cx="4737204" cy="37429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007738" y="5563896"/>
            <a:ext cx="6280785" cy="4723130"/>
            <a:chOff x="12007738" y="5563896"/>
            <a:chExt cx="6280785" cy="472313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53063" y="6319977"/>
              <a:ext cx="5834936" cy="39670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07738" y="5563896"/>
              <a:ext cx="5250524" cy="398121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80260" y="5943223"/>
            <a:ext cx="4324349" cy="6000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32773" y="2271889"/>
            <a:ext cx="3600449" cy="36671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7033003"/>
            <a:ext cx="3919295" cy="32539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8287997" cy="13144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8958436"/>
            <a:ext cx="18287997" cy="132397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pc="1335" dirty="0"/>
              <a:t>IEEE</a:t>
            </a:r>
            <a:r>
              <a:rPr spc="-265" dirty="0"/>
              <a:t> </a:t>
            </a:r>
            <a:r>
              <a:rPr spc="2115" dirty="0"/>
              <a:t>SSH</a:t>
            </a:r>
            <a:r>
              <a:rPr spc="-260" dirty="0"/>
              <a:t> </a:t>
            </a:r>
            <a:r>
              <a:rPr spc="1980" dirty="0"/>
              <a:t>2024</a:t>
            </a:r>
          </a:p>
          <a:p>
            <a:pPr algn="ctr">
              <a:lnSpc>
                <a:spcPct val="100000"/>
              </a:lnSpc>
              <a:spcBef>
                <a:spcPts val="2365"/>
              </a:spcBef>
            </a:pPr>
            <a:r>
              <a:rPr sz="2550" spc="120" dirty="0">
                <a:solidFill>
                  <a:srgbClr val="00204B"/>
                </a:solidFill>
                <a:latin typeface="Verdana"/>
                <a:cs typeface="Verdana"/>
              </a:rPr>
              <a:t>HACKATHON</a:t>
            </a:r>
            <a:endParaRPr sz="2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4200" y="2705100"/>
            <a:ext cx="10820400" cy="10567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750" spc="745" dirty="0">
                <a:solidFill>
                  <a:srgbClr val="FFFFFF"/>
                </a:solidFill>
                <a:latin typeface="Trebuchet MS"/>
                <a:cs typeface="Trebuchet MS"/>
              </a:rPr>
              <a:t>Team</a:t>
            </a:r>
            <a:r>
              <a:rPr sz="675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750" spc="630" dirty="0">
                <a:solidFill>
                  <a:srgbClr val="FFFFFF"/>
                </a:solidFill>
                <a:latin typeface="Trebuchet MS"/>
                <a:cs typeface="Trebuchet MS"/>
              </a:rPr>
              <a:t>name:</a:t>
            </a:r>
            <a:r>
              <a:rPr lang="en-US" sz="6750" spc="630" dirty="0">
                <a:solidFill>
                  <a:srgbClr val="FFFFFF"/>
                </a:solidFill>
                <a:latin typeface="Trebuchet MS"/>
                <a:cs typeface="Trebuchet MS"/>
              </a:rPr>
              <a:t>-RED HATS</a:t>
            </a:r>
            <a:endParaRPr sz="6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71800" y="4457700"/>
            <a:ext cx="12115800" cy="5219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700" spc="715" dirty="0">
                <a:solidFill>
                  <a:srgbClr val="FFFFFF"/>
                </a:solidFill>
                <a:latin typeface="Trebuchet MS"/>
                <a:cs typeface="Trebuchet MS"/>
              </a:rPr>
              <a:t>Team</a:t>
            </a:r>
            <a:r>
              <a:rPr sz="67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700" spc="910" dirty="0">
                <a:solidFill>
                  <a:srgbClr val="FFFFFF"/>
                </a:solidFill>
                <a:latin typeface="Trebuchet MS"/>
                <a:cs typeface="Trebuchet MS"/>
              </a:rPr>
              <a:t>Members</a:t>
            </a:r>
            <a:r>
              <a:rPr sz="6700" spc="60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lang="en-US" sz="6700" spc="60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700" spc="600" dirty="0">
                <a:solidFill>
                  <a:srgbClr val="FFFFFF"/>
                </a:solidFill>
                <a:latin typeface="Trebuchet MS"/>
                <a:cs typeface="Trebuchet MS"/>
              </a:rPr>
              <a:t>				1)Nawin Vignesh P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700" spc="600" dirty="0">
                <a:solidFill>
                  <a:srgbClr val="FFFFFF"/>
                </a:solidFill>
                <a:latin typeface="Trebuchet MS"/>
                <a:cs typeface="Trebuchet MS"/>
              </a:rPr>
              <a:t>				2)</a:t>
            </a:r>
            <a:r>
              <a:rPr lang="en-US" sz="6700" spc="600" dirty="0" err="1">
                <a:solidFill>
                  <a:srgbClr val="FFFFFF"/>
                </a:solidFill>
                <a:latin typeface="Trebuchet MS"/>
                <a:cs typeface="Trebuchet MS"/>
              </a:rPr>
              <a:t>Nagappan</a:t>
            </a:r>
            <a:r>
              <a:rPr lang="en-US" sz="6700" spc="600" dirty="0">
                <a:solidFill>
                  <a:srgbClr val="FFFFFF"/>
                </a:solidFill>
                <a:latin typeface="Trebuchet MS"/>
                <a:cs typeface="Trebuchet MS"/>
              </a:rPr>
              <a:t> 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700" spc="600" dirty="0">
                <a:solidFill>
                  <a:srgbClr val="FFFFFF"/>
                </a:solidFill>
                <a:latin typeface="Trebuchet MS"/>
                <a:cs typeface="Trebuchet MS"/>
              </a:rPr>
              <a:t>				3)</a:t>
            </a:r>
            <a:r>
              <a:rPr lang="en-US" sz="6700" spc="600" dirty="0" err="1">
                <a:solidFill>
                  <a:srgbClr val="FFFFFF"/>
                </a:solidFill>
                <a:latin typeface="Trebuchet MS"/>
                <a:cs typeface="Trebuchet MS"/>
              </a:rPr>
              <a:t>Megavarshini</a:t>
            </a:r>
            <a:r>
              <a:rPr lang="en-US" sz="6700" spc="600" dirty="0">
                <a:solidFill>
                  <a:srgbClr val="FFFFFF"/>
                </a:solidFill>
                <a:latin typeface="Trebuchet MS"/>
                <a:cs typeface="Trebuchet MS"/>
              </a:rPr>
              <a:t> 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6700" spc="600" dirty="0">
                <a:solidFill>
                  <a:srgbClr val="FFFFFF"/>
                </a:solidFill>
                <a:latin typeface="Trebuchet MS"/>
                <a:cs typeface="Trebuchet MS"/>
              </a:rPr>
              <a:t>				</a:t>
            </a:r>
            <a:endParaRPr sz="67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3144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958436"/>
            <a:ext cx="18287997" cy="13239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434914"/>
            <a:ext cx="8437935" cy="28520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276808" cy="440939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802533" y="0"/>
            <a:ext cx="5485765" cy="10274300"/>
            <a:chOff x="12802533" y="0"/>
            <a:chExt cx="5485765" cy="102743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00499" y="0"/>
              <a:ext cx="4787499" cy="1027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02533" y="429914"/>
              <a:ext cx="3876674" cy="285749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0" y="7046517"/>
            <a:ext cx="18288000" cy="3241040"/>
            <a:chOff x="0" y="7046517"/>
            <a:chExt cx="18288000" cy="324104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7046517"/>
              <a:ext cx="6037163" cy="324048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8958436"/>
              <a:ext cx="18287997" cy="132397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847132" y="1695572"/>
            <a:ext cx="12984480" cy="93743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spc="1195" dirty="0"/>
              <a:t>Problem</a:t>
            </a:r>
            <a:r>
              <a:rPr sz="6000" spc="-275" dirty="0"/>
              <a:t> </a:t>
            </a:r>
            <a:r>
              <a:rPr sz="6000" spc="1105" dirty="0"/>
              <a:t>statement</a:t>
            </a:r>
            <a:endParaRPr sz="6000" dirty="0"/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8287997" cy="13144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6DBC9A-2156-A5E0-77E7-597D9F8FDA44}"/>
              </a:ext>
            </a:extLst>
          </p:cNvPr>
          <p:cNvSpPr txBox="1"/>
          <p:nvPr/>
        </p:nvSpPr>
        <p:spPr>
          <a:xfrm>
            <a:off x="3809032" y="3212351"/>
            <a:ext cx="1282154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Problem Title :-</a:t>
            </a:r>
            <a:r>
              <a:rPr lang="en-US" sz="3400" dirty="0">
                <a:solidFill>
                  <a:schemeClr val="bg1"/>
                </a:solidFill>
              </a:rPr>
              <a:t>Digital Solutions to Minimize Student Dropout Across Educational Levels</a:t>
            </a:r>
            <a:endParaRPr lang="en-IN" sz="3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330C3B-F018-D841-66E9-B4BCF550F82A}"/>
              </a:ext>
            </a:extLst>
          </p:cNvPr>
          <p:cNvSpPr txBox="1"/>
          <p:nvPr/>
        </p:nvSpPr>
        <p:spPr>
          <a:xfrm>
            <a:off x="3809032" y="4535860"/>
            <a:ext cx="1229673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Problem Description:- </a:t>
            </a:r>
            <a:r>
              <a:rPr lang="en-US" sz="3400" dirty="0">
                <a:solidFill>
                  <a:schemeClr val="bg1"/>
                </a:solidFill>
              </a:rPr>
              <a:t>A smart AI-based solution designed to minimize student dropout by identifying at-risk students using real-time data on academic performance, engagement, and socio-economic factors. It provides adaptive interventions like personalized learning paths and continuous monitoring to improve retention and ensure student success.</a:t>
            </a:r>
            <a:endParaRPr lang="en-IN" sz="3400" dirty="0">
              <a:solidFill>
                <a:schemeClr val="bg1"/>
              </a:solidFill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C9FD6752-97A6-7073-71FF-1DB9BD9A6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-952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FEA9477-4724-4A50-84EB-6C515A1A8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-952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06A9993-AA02-7353-45C1-087EA4252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-952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DAA46D55-F9FB-E83B-ED44-63DADE0E4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18288000" cy="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-952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661291" cy="6743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08264" y="99307"/>
            <a:ext cx="5279735" cy="1018769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90600" y="2433431"/>
            <a:ext cx="16502926" cy="6137877"/>
          </a:xfrm>
          <a:custGeom>
            <a:avLst/>
            <a:gdLst/>
            <a:ahLst/>
            <a:cxnLst/>
            <a:rect l="l" t="t" r="r" b="b"/>
            <a:pathLst>
              <a:path w="4290695" h="6461759">
                <a:moveTo>
                  <a:pt x="3949332" y="6461227"/>
                </a:moveTo>
                <a:lnTo>
                  <a:pt x="341170" y="6461227"/>
                </a:lnTo>
                <a:lnTo>
                  <a:pt x="294966" y="6458104"/>
                </a:lnTo>
                <a:lnTo>
                  <a:pt x="250623" y="6449010"/>
                </a:lnTo>
                <a:lnTo>
                  <a:pt x="208553" y="6434356"/>
                </a:lnTo>
                <a:lnTo>
                  <a:pt x="169166" y="6414552"/>
                </a:lnTo>
                <a:lnTo>
                  <a:pt x="132874" y="6390009"/>
                </a:lnTo>
                <a:lnTo>
                  <a:pt x="100088" y="6361139"/>
                </a:lnTo>
                <a:lnTo>
                  <a:pt x="71218" y="6328352"/>
                </a:lnTo>
                <a:lnTo>
                  <a:pt x="46675" y="6292060"/>
                </a:lnTo>
                <a:lnTo>
                  <a:pt x="26871" y="6252674"/>
                </a:lnTo>
                <a:lnTo>
                  <a:pt x="12216" y="6210604"/>
                </a:lnTo>
                <a:lnTo>
                  <a:pt x="3122" y="6166261"/>
                </a:lnTo>
                <a:lnTo>
                  <a:pt x="0" y="6120058"/>
                </a:lnTo>
                <a:lnTo>
                  <a:pt x="0" y="341169"/>
                </a:lnTo>
                <a:lnTo>
                  <a:pt x="3122" y="294966"/>
                </a:lnTo>
                <a:lnTo>
                  <a:pt x="12216" y="250623"/>
                </a:lnTo>
                <a:lnTo>
                  <a:pt x="26871" y="208553"/>
                </a:lnTo>
                <a:lnTo>
                  <a:pt x="46675" y="169166"/>
                </a:lnTo>
                <a:lnTo>
                  <a:pt x="71218" y="132874"/>
                </a:lnTo>
                <a:lnTo>
                  <a:pt x="100088" y="100088"/>
                </a:lnTo>
                <a:lnTo>
                  <a:pt x="132874" y="71218"/>
                </a:lnTo>
                <a:lnTo>
                  <a:pt x="169166" y="46675"/>
                </a:lnTo>
                <a:lnTo>
                  <a:pt x="208553" y="26871"/>
                </a:lnTo>
                <a:lnTo>
                  <a:pt x="250623" y="12216"/>
                </a:lnTo>
                <a:lnTo>
                  <a:pt x="294966" y="3122"/>
                </a:lnTo>
                <a:lnTo>
                  <a:pt x="341167" y="0"/>
                </a:lnTo>
                <a:lnTo>
                  <a:pt x="3949335" y="0"/>
                </a:lnTo>
                <a:lnTo>
                  <a:pt x="3995536" y="3122"/>
                </a:lnTo>
                <a:lnTo>
                  <a:pt x="4039879" y="12216"/>
                </a:lnTo>
                <a:lnTo>
                  <a:pt x="4081949" y="26871"/>
                </a:lnTo>
                <a:lnTo>
                  <a:pt x="4121336" y="46675"/>
                </a:lnTo>
                <a:lnTo>
                  <a:pt x="4157628" y="71218"/>
                </a:lnTo>
                <a:lnTo>
                  <a:pt x="4190414" y="100088"/>
                </a:lnTo>
                <a:lnTo>
                  <a:pt x="4219284" y="132874"/>
                </a:lnTo>
                <a:lnTo>
                  <a:pt x="4243827" y="169166"/>
                </a:lnTo>
                <a:lnTo>
                  <a:pt x="4263631" y="208553"/>
                </a:lnTo>
                <a:lnTo>
                  <a:pt x="4278286" y="250623"/>
                </a:lnTo>
                <a:lnTo>
                  <a:pt x="4287380" y="294966"/>
                </a:lnTo>
                <a:lnTo>
                  <a:pt x="4290503" y="341169"/>
                </a:lnTo>
                <a:lnTo>
                  <a:pt x="4290503" y="6120058"/>
                </a:lnTo>
                <a:lnTo>
                  <a:pt x="4287380" y="6166261"/>
                </a:lnTo>
                <a:lnTo>
                  <a:pt x="4278286" y="6210604"/>
                </a:lnTo>
                <a:lnTo>
                  <a:pt x="4263631" y="6252674"/>
                </a:lnTo>
                <a:lnTo>
                  <a:pt x="4243827" y="6292060"/>
                </a:lnTo>
                <a:lnTo>
                  <a:pt x="4219284" y="6328352"/>
                </a:lnTo>
                <a:lnTo>
                  <a:pt x="4190414" y="6361139"/>
                </a:lnTo>
                <a:lnTo>
                  <a:pt x="4157628" y="6390009"/>
                </a:lnTo>
                <a:lnTo>
                  <a:pt x="4121336" y="6414552"/>
                </a:lnTo>
                <a:lnTo>
                  <a:pt x="4081949" y="6434356"/>
                </a:lnTo>
                <a:lnTo>
                  <a:pt x="4039879" y="6449010"/>
                </a:lnTo>
                <a:lnTo>
                  <a:pt x="3995536" y="6458104"/>
                </a:lnTo>
                <a:lnTo>
                  <a:pt x="3949332" y="6461227"/>
                </a:lnTo>
                <a:close/>
              </a:path>
            </a:pathLst>
          </a:custGeom>
          <a:solidFill>
            <a:srgbClr val="2D2E2F">
              <a:alpha val="30999"/>
            </a:srgbClr>
          </a:solidFill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sz="2700" b="1" dirty="0">
                <a:solidFill>
                  <a:schemeClr val="bg1"/>
                </a:solidFill>
              </a:rPr>
              <a:t>AI for Dropout Prediction</a:t>
            </a:r>
            <a:r>
              <a:rPr lang="en-US" sz="2700" dirty="0">
                <a:solidFill>
                  <a:schemeClr val="bg1"/>
                </a:solidFill>
              </a:rPr>
              <a:t>: AI analyzes student data (grades, attendance, behavior) to predict dropout risks and flag students for early intervention.</a:t>
            </a:r>
            <a:r>
              <a:rPr lang="en-US" sz="2700" b="1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sz="2700" b="1" dirty="0">
                <a:solidFill>
                  <a:schemeClr val="bg1"/>
                </a:solidFill>
              </a:rPr>
              <a:t>Personalized Learning Plans</a:t>
            </a:r>
            <a:r>
              <a:rPr lang="en-US" sz="2700" dirty="0">
                <a:solidFill>
                  <a:schemeClr val="bg1"/>
                </a:solidFill>
              </a:rPr>
              <a:t>: Adaptive AI-based systems create tailored educational pathways to meet the unique learning styles and needs of each student.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sz="2700" b="1" dirty="0">
                <a:solidFill>
                  <a:schemeClr val="bg1"/>
                </a:solidFill>
              </a:rPr>
              <a:t>Real-Time Progress Monitoring</a:t>
            </a:r>
            <a:r>
              <a:rPr lang="en-US" sz="2700" dirty="0">
                <a:solidFill>
                  <a:schemeClr val="bg1"/>
                </a:solidFill>
              </a:rPr>
              <a:t>: Automated systems monitor student performance, engagement, and attendance, sending alerts to teachers and parents if issues arise.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sz="2700" b="1" dirty="0">
                <a:solidFill>
                  <a:schemeClr val="bg1"/>
                </a:solidFill>
              </a:rPr>
              <a:t>Mentorship and Counseling Support</a:t>
            </a:r>
            <a:r>
              <a:rPr lang="en-US" sz="2700" dirty="0">
                <a:solidFill>
                  <a:schemeClr val="bg1"/>
                </a:solidFill>
              </a:rPr>
              <a:t>: AI connects students to appropriate mentors and counselors based on individual needs, ensuring timely support.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sz="2700" b="1" dirty="0">
                <a:solidFill>
                  <a:schemeClr val="bg1"/>
                </a:solidFill>
              </a:rPr>
              <a:t>Early Warning Systems</a:t>
            </a:r>
            <a:r>
              <a:rPr lang="en-US" sz="2700" dirty="0">
                <a:solidFill>
                  <a:schemeClr val="bg1"/>
                </a:solidFill>
              </a:rPr>
              <a:t>: Predictive models use historical data to provide early warnings about students most likely to disengage, enabling proactive measures.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endParaRPr lang="en-US" sz="27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Aft>
                <a:spcPts val="250"/>
              </a:spcAft>
            </a:pPr>
            <a:endParaRPr lang="en-US" sz="27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Aft>
                <a:spcPts val="250"/>
              </a:spcAft>
            </a:pPr>
            <a:endParaRPr lang="en-US" sz="27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250"/>
              </a:spcAft>
            </a:pPr>
            <a:endParaRPr lang="en-IN" sz="27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4704761" cy="286595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2941445"/>
            <a:ext cx="18288000" cy="7341234"/>
            <a:chOff x="0" y="2941445"/>
            <a:chExt cx="18288000" cy="7341234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28210" y="2941445"/>
              <a:ext cx="2859788" cy="59949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8958436"/>
              <a:ext cx="18287997" cy="1323974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7" cy="1314449"/>
          </a:xfrm>
          <a:prstGeom prst="rect">
            <a:avLst/>
          </a:prstGeom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DE093C3-4D8A-C4AB-27F3-F0C7F6AFF82E}"/>
              </a:ext>
            </a:extLst>
          </p:cNvPr>
          <p:cNvSpPr txBox="1">
            <a:spLocks/>
          </p:cNvSpPr>
          <p:nvPr/>
        </p:nvSpPr>
        <p:spPr>
          <a:xfrm>
            <a:off x="16951770" y="8747148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7C3CE7-23F7-4828-823C-E0205DF2CF9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8A3E103-BB93-81C5-5971-6527213C0A24}"/>
              </a:ext>
            </a:extLst>
          </p:cNvPr>
          <p:cNvSpPr txBox="1">
            <a:spLocks/>
          </p:cNvSpPr>
          <p:nvPr/>
        </p:nvSpPr>
        <p:spPr>
          <a:xfrm>
            <a:off x="16951770" y="87471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8AD129CC-7CCE-0E0A-2B38-1F586C4E7FE8}"/>
              </a:ext>
            </a:extLst>
          </p:cNvPr>
          <p:cNvSpPr txBox="1">
            <a:spLocks/>
          </p:cNvSpPr>
          <p:nvPr/>
        </p:nvSpPr>
        <p:spPr>
          <a:xfrm>
            <a:off x="12862370" y="8747151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E6F494-EB68-D8A4-D146-C1823BC71EC5}"/>
              </a:ext>
            </a:extLst>
          </p:cNvPr>
          <p:cNvSpPr txBox="1"/>
          <p:nvPr/>
        </p:nvSpPr>
        <p:spPr>
          <a:xfrm>
            <a:off x="2133600" y="1450784"/>
            <a:ext cx="1592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Solution:-</a:t>
            </a:r>
            <a:r>
              <a:rPr lang="en-IN" sz="3600" dirty="0">
                <a:solidFill>
                  <a:schemeClr val="bg1"/>
                </a:solidFill>
              </a:rPr>
              <a:t>Innovative Digital Solutions to Minimize Student Dropout</a:t>
            </a:r>
            <a:r>
              <a:rPr lang="en-IN" sz="3600" b="1" dirty="0">
                <a:solidFill>
                  <a:schemeClr val="bg1"/>
                </a:solidFill>
              </a:rPr>
              <a:t> 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58436"/>
            <a:ext cx="18287997" cy="1323974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C23FD36F-9909-8709-93E3-524B34A9BDC8}"/>
              </a:ext>
            </a:extLst>
          </p:cNvPr>
          <p:cNvSpPr/>
          <p:nvPr/>
        </p:nvSpPr>
        <p:spPr>
          <a:xfrm>
            <a:off x="1752600" y="2467099"/>
            <a:ext cx="14478000" cy="5352802"/>
          </a:xfrm>
          <a:custGeom>
            <a:avLst/>
            <a:gdLst/>
            <a:ahLst/>
            <a:cxnLst/>
            <a:rect l="l" t="t" r="r" b="b"/>
            <a:pathLst>
              <a:path w="4290695" h="6461759">
                <a:moveTo>
                  <a:pt x="3949332" y="6461227"/>
                </a:moveTo>
                <a:lnTo>
                  <a:pt x="341170" y="6461227"/>
                </a:lnTo>
                <a:lnTo>
                  <a:pt x="294966" y="6458104"/>
                </a:lnTo>
                <a:lnTo>
                  <a:pt x="250623" y="6449010"/>
                </a:lnTo>
                <a:lnTo>
                  <a:pt x="208553" y="6434356"/>
                </a:lnTo>
                <a:lnTo>
                  <a:pt x="169166" y="6414552"/>
                </a:lnTo>
                <a:lnTo>
                  <a:pt x="132874" y="6390009"/>
                </a:lnTo>
                <a:lnTo>
                  <a:pt x="100088" y="6361139"/>
                </a:lnTo>
                <a:lnTo>
                  <a:pt x="71218" y="6328352"/>
                </a:lnTo>
                <a:lnTo>
                  <a:pt x="46675" y="6292060"/>
                </a:lnTo>
                <a:lnTo>
                  <a:pt x="26871" y="6252674"/>
                </a:lnTo>
                <a:lnTo>
                  <a:pt x="12216" y="6210604"/>
                </a:lnTo>
                <a:lnTo>
                  <a:pt x="3122" y="6166261"/>
                </a:lnTo>
                <a:lnTo>
                  <a:pt x="0" y="6120058"/>
                </a:lnTo>
                <a:lnTo>
                  <a:pt x="0" y="341169"/>
                </a:lnTo>
                <a:lnTo>
                  <a:pt x="3122" y="294966"/>
                </a:lnTo>
                <a:lnTo>
                  <a:pt x="12216" y="250623"/>
                </a:lnTo>
                <a:lnTo>
                  <a:pt x="26871" y="208553"/>
                </a:lnTo>
                <a:lnTo>
                  <a:pt x="46675" y="169166"/>
                </a:lnTo>
                <a:lnTo>
                  <a:pt x="71218" y="132874"/>
                </a:lnTo>
                <a:lnTo>
                  <a:pt x="100088" y="100088"/>
                </a:lnTo>
                <a:lnTo>
                  <a:pt x="132874" y="71218"/>
                </a:lnTo>
                <a:lnTo>
                  <a:pt x="169166" y="46675"/>
                </a:lnTo>
                <a:lnTo>
                  <a:pt x="208553" y="26871"/>
                </a:lnTo>
                <a:lnTo>
                  <a:pt x="250623" y="12216"/>
                </a:lnTo>
                <a:lnTo>
                  <a:pt x="294966" y="3122"/>
                </a:lnTo>
                <a:lnTo>
                  <a:pt x="341167" y="0"/>
                </a:lnTo>
                <a:lnTo>
                  <a:pt x="3949335" y="0"/>
                </a:lnTo>
                <a:lnTo>
                  <a:pt x="3995536" y="3122"/>
                </a:lnTo>
                <a:lnTo>
                  <a:pt x="4039879" y="12216"/>
                </a:lnTo>
                <a:lnTo>
                  <a:pt x="4081949" y="26871"/>
                </a:lnTo>
                <a:lnTo>
                  <a:pt x="4121336" y="46675"/>
                </a:lnTo>
                <a:lnTo>
                  <a:pt x="4157628" y="71218"/>
                </a:lnTo>
                <a:lnTo>
                  <a:pt x="4190414" y="100088"/>
                </a:lnTo>
                <a:lnTo>
                  <a:pt x="4219284" y="132874"/>
                </a:lnTo>
                <a:lnTo>
                  <a:pt x="4243827" y="169166"/>
                </a:lnTo>
                <a:lnTo>
                  <a:pt x="4263631" y="208553"/>
                </a:lnTo>
                <a:lnTo>
                  <a:pt x="4278286" y="250623"/>
                </a:lnTo>
                <a:lnTo>
                  <a:pt x="4287380" y="294966"/>
                </a:lnTo>
                <a:lnTo>
                  <a:pt x="4290503" y="341169"/>
                </a:lnTo>
                <a:lnTo>
                  <a:pt x="4290503" y="6120058"/>
                </a:lnTo>
                <a:lnTo>
                  <a:pt x="4287380" y="6166261"/>
                </a:lnTo>
                <a:lnTo>
                  <a:pt x="4278286" y="6210604"/>
                </a:lnTo>
                <a:lnTo>
                  <a:pt x="4263631" y="6252674"/>
                </a:lnTo>
                <a:lnTo>
                  <a:pt x="4243827" y="6292060"/>
                </a:lnTo>
                <a:lnTo>
                  <a:pt x="4219284" y="6328352"/>
                </a:lnTo>
                <a:lnTo>
                  <a:pt x="4190414" y="6361139"/>
                </a:lnTo>
                <a:lnTo>
                  <a:pt x="4157628" y="6390009"/>
                </a:lnTo>
                <a:lnTo>
                  <a:pt x="4121336" y="6414552"/>
                </a:lnTo>
                <a:lnTo>
                  <a:pt x="4081949" y="6434356"/>
                </a:lnTo>
                <a:lnTo>
                  <a:pt x="4039879" y="6449010"/>
                </a:lnTo>
                <a:lnTo>
                  <a:pt x="3995536" y="6458104"/>
                </a:lnTo>
                <a:lnTo>
                  <a:pt x="3949332" y="6461227"/>
                </a:lnTo>
                <a:close/>
              </a:path>
            </a:pathLst>
          </a:custGeom>
          <a:solidFill>
            <a:srgbClr val="2D2E2F">
              <a:alpha val="30999"/>
            </a:srgbClr>
          </a:solidFill>
        </p:spPr>
        <p:txBody>
          <a:bodyPr wrap="square" lIns="0" tIns="0" rIns="0" bIns="0" rtlCol="0"/>
          <a:lstStyle/>
          <a:p>
            <a:r>
              <a:rPr lang="en-US" sz="2800" b="1" dirty="0">
                <a:solidFill>
                  <a:schemeClr val="bg1"/>
                </a:solidFill>
              </a:rPr>
              <a:t>Proactive Identification of At-Risk Students</a:t>
            </a:r>
            <a:r>
              <a:rPr lang="en-US" sz="2800" dirty="0">
                <a:solidFill>
                  <a:schemeClr val="bg1"/>
                </a:solidFill>
              </a:rPr>
              <a:t>: AI-driven prediction models identify dropout risks before disengagement occurs.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Tailored Interventions</a:t>
            </a:r>
            <a:r>
              <a:rPr lang="en-US" sz="2800" dirty="0">
                <a:solidFill>
                  <a:schemeClr val="bg1"/>
                </a:solidFill>
              </a:rPr>
              <a:t>: Personalized learning paths and interventions cater to individual student needs, increasing engagement and success.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Real-Time Alerts</a:t>
            </a:r>
            <a:r>
              <a:rPr lang="en-US" sz="2800" dirty="0">
                <a:solidFill>
                  <a:schemeClr val="bg1"/>
                </a:solidFill>
              </a:rPr>
              <a:t>: Continuous monitoring of academic and behavioral data ensures immediate action can be taken when signs of trouble arise.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Holistic Support System</a:t>
            </a:r>
            <a:r>
              <a:rPr lang="en-US" sz="2800" dirty="0">
                <a:solidFill>
                  <a:schemeClr val="bg1"/>
                </a:solidFill>
              </a:rPr>
              <a:t>: Integrates academic, emotional, and social support (through mentorship and counseling) to provide a comprehensive safety net.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Scalability Across Education Levels</a:t>
            </a:r>
            <a:r>
              <a:rPr lang="en-US" sz="2800" dirty="0">
                <a:solidFill>
                  <a:schemeClr val="bg1"/>
                </a:solidFill>
              </a:rPr>
              <a:t>: The solution is adaptable to all educational stages, from primary school to university.</a:t>
            </a:r>
          </a:p>
          <a:p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A988905-A07E-986A-4855-23FA9478E537}"/>
              </a:ext>
            </a:extLst>
          </p:cNvPr>
          <p:cNvSpPr txBox="1">
            <a:spLocks/>
          </p:cNvSpPr>
          <p:nvPr/>
        </p:nvSpPr>
        <p:spPr>
          <a:xfrm>
            <a:off x="3886200" y="1457750"/>
            <a:ext cx="9448800" cy="843326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5600" b="1" dirty="0">
                <a:solidFill>
                  <a:schemeClr val="bg1"/>
                </a:solidFill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Unique Selling Proposition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7719" y="-228600"/>
            <a:ext cx="6800280" cy="604903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81000" y="2214033"/>
            <a:ext cx="16550639" cy="8097367"/>
            <a:chOff x="0" y="2189632"/>
            <a:chExt cx="16550639" cy="8097367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543974"/>
              <a:ext cx="2714180" cy="37430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8418" y="2189632"/>
              <a:ext cx="16142221" cy="6998421"/>
            </a:xfrm>
            <a:custGeom>
              <a:avLst/>
              <a:gdLst/>
              <a:ahLst/>
              <a:cxnLst/>
              <a:rect l="l" t="t" r="r" b="b"/>
              <a:pathLst>
                <a:path w="4290695" h="4970780">
                  <a:moveTo>
                    <a:pt x="3949332" y="4970297"/>
                  </a:moveTo>
                  <a:lnTo>
                    <a:pt x="341170" y="4970297"/>
                  </a:lnTo>
                  <a:lnTo>
                    <a:pt x="294966" y="4967174"/>
                  </a:lnTo>
                  <a:lnTo>
                    <a:pt x="250623" y="4958080"/>
                  </a:lnTo>
                  <a:lnTo>
                    <a:pt x="208553" y="4943426"/>
                  </a:lnTo>
                  <a:lnTo>
                    <a:pt x="169166" y="4923622"/>
                  </a:lnTo>
                  <a:lnTo>
                    <a:pt x="132874" y="4899079"/>
                  </a:lnTo>
                  <a:lnTo>
                    <a:pt x="100088" y="4870209"/>
                  </a:lnTo>
                  <a:lnTo>
                    <a:pt x="71218" y="4837422"/>
                  </a:lnTo>
                  <a:lnTo>
                    <a:pt x="46675" y="4801130"/>
                  </a:lnTo>
                  <a:lnTo>
                    <a:pt x="26871" y="4761744"/>
                  </a:lnTo>
                  <a:lnTo>
                    <a:pt x="12216" y="4719673"/>
                  </a:lnTo>
                  <a:lnTo>
                    <a:pt x="3122" y="4675331"/>
                  </a:lnTo>
                  <a:lnTo>
                    <a:pt x="0" y="4629128"/>
                  </a:lnTo>
                  <a:lnTo>
                    <a:pt x="0" y="341169"/>
                  </a:lnTo>
                  <a:lnTo>
                    <a:pt x="3122" y="294966"/>
                  </a:lnTo>
                  <a:lnTo>
                    <a:pt x="12216" y="250623"/>
                  </a:lnTo>
                  <a:lnTo>
                    <a:pt x="26871" y="208553"/>
                  </a:lnTo>
                  <a:lnTo>
                    <a:pt x="46675" y="169167"/>
                  </a:lnTo>
                  <a:lnTo>
                    <a:pt x="71218" y="132874"/>
                  </a:lnTo>
                  <a:lnTo>
                    <a:pt x="100088" y="100088"/>
                  </a:lnTo>
                  <a:lnTo>
                    <a:pt x="132874" y="71218"/>
                  </a:lnTo>
                  <a:lnTo>
                    <a:pt x="169166" y="46675"/>
                  </a:lnTo>
                  <a:lnTo>
                    <a:pt x="208553" y="26871"/>
                  </a:lnTo>
                  <a:lnTo>
                    <a:pt x="250623" y="12216"/>
                  </a:lnTo>
                  <a:lnTo>
                    <a:pt x="294966" y="3122"/>
                  </a:lnTo>
                  <a:lnTo>
                    <a:pt x="341170" y="0"/>
                  </a:lnTo>
                  <a:lnTo>
                    <a:pt x="3949332" y="0"/>
                  </a:lnTo>
                  <a:lnTo>
                    <a:pt x="3995536" y="3122"/>
                  </a:lnTo>
                  <a:lnTo>
                    <a:pt x="4039879" y="12216"/>
                  </a:lnTo>
                  <a:lnTo>
                    <a:pt x="4081949" y="26871"/>
                  </a:lnTo>
                  <a:lnTo>
                    <a:pt x="4121336" y="46675"/>
                  </a:lnTo>
                  <a:lnTo>
                    <a:pt x="4157628" y="71218"/>
                  </a:lnTo>
                  <a:lnTo>
                    <a:pt x="4190414" y="100088"/>
                  </a:lnTo>
                  <a:lnTo>
                    <a:pt x="4219284" y="132874"/>
                  </a:lnTo>
                  <a:lnTo>
                    <a:pt x="4243827" y="169167"/>
                  </a:lnTo>
                  <a:lnTo>
                    <a:pt x="4263631" y="208553"/>
                  </a:lnTo>
                  <a:lnTo>
                    <a:pt x="4278286" y="250623"/>
                  </a:lnTo>
                  <a:lnTo>
                    <a:pt x="4287380" y="294966"/>
                  </a:lnTo>
                  <a:lnTo>
                    <a:pt x="4290503" y="341169"/>
                  </a:lnTo>
                  <a:lnTo>
                    <a:pt x="4290503" y="4629128"/>
                  </a:lnTo>
                  <a:lnTo>
                    <a:pt x="4287380" y="4675331"/>
                  </a:lnTo>
                  <a:lnTo>
                    <a:pt x="4278286" y="4719673"/>
                  </a:lnTo>
                  <a:lnTo>
                    <a:pt x="4263631" y="4761744"/>
                  </a:lnTo>
                  <a:lnTo>
                    <a:pt x="4243827" y="4801130"/>
                  </a:lnTo>
                  <a:lnTo>
                    <a:pt x="4219284" y="4837422"/>
                  </a:lnTo>
                  <a:lnTo>
                    <a:pt x="4190414" y="4870209"/>
                  </a:lnTo>
                  <a:lnTo>
                    <a:pt x="4157628" y="4899079"/>
                  </a:lnTo>
                  <a:lnTo>
                    <a:pt x="4121336" y="4923622"/>
                  </a:lnTo>
                  <a:lnTo>
                    <a:pt x="4081949" y="4943426"/>
                  </a:lnTo>
                  <a:lnTo>
                    <a:pt x="4039879" y="4958080"/>
                  </a:lnTo>
                  <a:lnTo>
                    <a:pt x="3995536" y="4967174"/>
                  </a:lnTo>
                  <a:lnTo>
                    <a:pt x="3949332" y="4970297"/>
                  </a:lnTo>
                  <a:close/>
                </a:path>
              </a:pathLst>
            </a:custGeom>
            <a:solidFill>
              <a:srgbClr val="2D2E2F">
                <a:alpha val="30999"/>
              </a:srgbClr>
            </a:solidFill>
          </p:spPr>
          <p:txBody>
            <a:bodyPr wrap="square" lIns="0" tIns="0" rIns="0" bIns="0" rtlCol="0"/>
            <a:lstStyle/>
            <a:p>
              <a:r>
                <a:rPr lang="en-US" sz="3000" b="1" dirty="0">
                  <a:solidFill>
                    <a:schemeClr val="bg1"/>
                  </a:solidFill>
                </a:rPr>
                <a:t>Frontend</a:t>
              </a:r>
              <a:r>
                <a:rPr lang="en-US" sz="3000" dirty="0">
                  <a:solidFill>
                    <a:schemeClr val="bg1"/>
                  </a:solidFill>
                </a:rPr>
                <a:t>: React.js or Angular for a user-friendly dashboard that allows students, teachers, and parents to track progress and receive alerts.</a:t>
              </a:r>
              <a:r>
                <a:rPr lang="en-US" sz="3000" b="1" dirty="0">
                  <a:solidFill>
                    <a:schemeClr val="bg1"/>
                  </a:solidFill>
                </a:rPr>
                <a:t> </a:t>
              </a:r>
            </a:p>
            <a:p>
              <a:endParaRPr lang="en-US" sz="3000" b="1" dirty="0">
                <a:solidFill>
                  <a:schemeClr val="bg1"/>
                </a:solidFill>
              </a:endParaRPr>
            </a:p>
            <a:p>
              <a:r>
                <a:rPr lang="en-US" sz="3000" b="1" dirty="0">
                  <a:solidFill>
                    <a:schemeClr val="bg1"/>
                  </a:solidFill>
                </a:rPr>
                <a:t>Backend</a:t>
              </a:r>
              <a:r>
                <a:rPr lang="en-US" sz="3000" dirty="0">
                  <a:solidFill>
                    <a:schemeClr val="bg1"/>
                  </a:solidFill>
                </a:rPr>
                <a:t>: Spring Boot or Node.js for managing data collection, API requests, and AI model integration.</a:t>
              </a:r>
            </a:p>
            <a:p>
              <a:endParaRPr lang="en-US" sz="3000" dirty="0">
                <a:solidFill>
                  <a:schemeClr val="bg1"/>
                </a:solidFill>
              </a:endParaRPr>
            </a:p>
            <a:p>
              <a:r>
                <a:rPr lang="en-US" sz="3000" b="1" dirty="0">
                  <a:solidFill>
                    <a:schemeClr val="bg1"/>
                  </a:solidFill>
                </a:rPr>
                <a:t>Machine Learning</a:t>
              </a:r>
              <a:r>
                <a:rPr lang="en-US" sz="3000" dirty="0">
                  <a:solidFill>
                    <a:schemeClr val="bg1"/>
                  </a:solidFill>
                </a:rPr>
                <a:t>: TensorFlow or </a:t>
              </a:r>
              <a:r>
                <a:rPr lang="en-US" sz="3000" dirty="0" err="1">
                  <a:solidFill>
                    <a:schemeClr val="bg1"/>
                  </a:solidFill>
                </a:rPr>
                <a:t>PyTorch</a:t>
              </a:r>
              <a:r>
                <a:rPr lang="en-US" sz="3000" dirty="0">
                  <a:solidFill>
                    <a:schemeClr val="bg1"/>
                  </a:solidFill>
                </a:rPr>
                <a:t> for building and training models to predict student dropout risks based on academic and socio-economic factors.</a:t>
              </a:r>
            </a:p>
            <a:p>
              <a:endParaRPr lang="en-US" sz="3000" dirty="0">
                <a:solidFill>
                  <a:schemeClr val="bg1"/>
                </a:solidFill>
              </a:endParaRPr>
            </a:p>
            <a:p>
              <a:r>
                <a:rPr lang="en-US" sz="3000" b="1" dirty="0">
                  <a:solidFill>
                    <a:schemeClr val="bg1"/>
                  </a:solidFill>
                </a:rPr>
                <a:t>Database</a:t>
              </a:r>
              <a:r>
                <a:rPr lang="en-US" sz="3000" dirty="0">
                  <a:solidFill>
                    <a:schemeClr val="bg1"/>
                  </a:solidFill>
                </a:rPr>
                <a:t>: PostgreSQL or MongoDB for managing structured and unstructured student data, including academic records, attendance, and engagement logs.</a:t>
              </a:r>
            </a:p>
            <a:p>
              <a:endParaRPr lang="en-US" sz="3000" dirty="0">
                <a:solidFill>
                  <a:schemeClr val="bg1"/>
                </a:solidFill>
              </a:endParaRPr>
            </a:p>
            <a:p>
              <a:r>
                <a:rPr lang="en-US" sz="3000" b="1" dirty="0">
                  <a:solidFill>
                    <a:schemeClr val="bg1"/>
                  </a:solidFill>
                </a:rPr>
                <a:t>Cloud Hosting</a:t>
              </a:r>
              <a:r>
                <a:rPr lang="en-US" sz="3000" dirty="0">
                  <a:solidFill>
                    <a:schemeClr val="bg1"/>
                  </a:solidFill>
                </a:rPr>
                <a:t>: AWS or Google Cloud for scalable cloud hosting, ensuring real-time data access and large-scale data processing for dropout predictions.</a:t>
              </a:r>
            </a:p>
            <a:p>
              <a:endParaRPr sz="3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25884" y="0"/>
            <a:ext cx="3362115" cy="25104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828350"/>
            <a:ext cx="1885094" cy="245864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6543974"/>
            <a:ext cx="18288000" cy="3743325"/>
            <a:chOff x="0" y="6543974"/>
            <a:chExt cx="18288000" cy="374332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78222" y="6543974"/>
              <a:ext cx="2509776" cy="37430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8958436"/>
              <a:ext cx="18287997" cy="1323974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8287997" cy="1314449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839467DA-E6DB-DF80-AE59-B08719F0506A}"/>
              </a:ext>
            </a:extLst>
          </p:cNvPr>
          <p:cNvSpPr txBox="1">
            <a:spLocks/>
          </p:cNvSpPr>
          <p:nvPr/>
        </p:nvSpPr>
        <p:spPr>
          <a:xfrm>
            <a:off x="5097314" y="1463239"/>
            <a:ext cx="6186196" cy="843326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chemeClr val="bg1"/>
                </a:solidFill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23" name="Google Shape;93;p2">
            <a:extLst>
              <a:ext uri="{FF2B5EF4-FFF2-40B4-BE49-F238E27FC236}">
                <a16:creationId xmlns:a16="http://schemas.microsoft.com/office/drawing/2014/main" id="{F30178FD-39D8-A15A-3EE4-99403C9A6A3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826943" y="1463239"/>
            <a:ext cx="1404260" cy="6374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8057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077408" cy="855236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203305" y="1172700"/>
            <a:ext cx="7084695" cy="9109710"/>
            <a:chOff x="11203419" y="1177460"/>
            <a:chExt cx="7084695" cy="91097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03419" y="1177460"/>
              <a:ext cx="7084580" cy="91059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05205" y="4667811"/>
              <a:ext cx="5082794" cy="561918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0" y="0"/>
            <a:ext cx="18288000" cy="6619240"/>
            <a:chOff x="0" y="0"/>
            <a:chExt cx="18288000" cy="661924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3485085" cy="66190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8287997" cy="1314449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958436"/>
            <a:ext cx="18287997" cy="132397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7332F4B-957C-F7C0-2970-09EB2B44243D}"/>
              </a:ext>
            </a:extLst>
          </p:cNvPr>
          <p:cNvSpPr txBox="1">
            <a:spLocks/>
          </p:cNvSpPr>
          <p:nvPr/>
        </p:nvSpPr>
        <p:spPr>
          <a:xfrm>
            <a:off x="5257800" y="1401691"/>
            <a:ext cx="6186196" cy="843326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chemeClr val="bg1"/>
                </a:solidFill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Future Aspects</a:t>
            </a:r>
          </a:p>
        </p:txBody>
      </p:sp>
      <p:sp>
        <p:nvSpPr>
          <p:cNvPr id="18" name="object 5">
            <a:extLst>
              <a:ext uri="{FF2B5EF4-FFF2-40B4-BE49-F238E27FC236}">
                <a16:creationId xmlns:a16="http://schemas.microsoft.com/office/drawing/2014/main" id="{C7ECD0C7-633A-1652-C585-E5CAA8F06B71}"/>
              </a:ext>
            </a:extLst>
          </p:cNvPr>
          <p:cNvSpPr/>
          <p:nvPr/>
        </p:nvSpPr>
        <p:spPr>
          <a:xfrm>
            <a:off x="838200" y="2332259"/>
            <a:ext cx="17099132" cy="6184121"/>
          </a:xfrm>
          <a:custGeom>
            <a:avLst/>
            <a:gdLst/>
            <a:ahLst/>
            <a:cxnLst/>
            <a:rect l="l" t="t" r="r" b="b"/>
            <a:pathLst>
              <a:path w="4290695" h="6461759">
                <a:moveTo>
                  <a:pt x="3949332" y="6461227"/>
                </a:moveTo>
                <a:lnTo>
                  <a:pt x="341170" y="6461227"/>
                </a:lnTo>
                <a:lnTo>
                  <a:pt x="294966" y="6458104"/>
                </a:lnTo>
                <a:lnTo>
                  <a:pt x="250623" y="6449010"/>
                </a:lnTo>
                <a:lnTo>
                  <a:pt x="208553" y="6434356"/>
                </a:lnTo>
                <a:lnTo>
                  <a:pt x="169166" y="6414552"/>
                </a:lnTo>
                <a:lnTo>
                  <a:pt x="132874" y="6390009"/>
                </a:lnTo>
                <a:lnTo>
                  <a:pt x="100088" y="6361139"/>
                </a:lnTo>
                <a:lnTo>
                  <a:pt x="71218" y="6328352"/>
                </a:lnTo>
                <a:lnTo>
                  <a:pt x="46675" y="6292060"/>
                </a:lnTo>
                <a:lnTo>
                  <a:pt x="26871" y="6252674"/>
                </a:lnTo>
                <a:lnTo>
                  <a:pt x="12216" y="6210604"/>
                </a:lnTo>
                <a:lnTo>
                  <a:pt x="3122" y="6166261"/>
                </a:lnTo>
                <a:lnTo>
                  <a:pt x="0" y="6120058"/>
                </a:lnTo>
                <a:lnTo>
                  <a:pt x="0" y="341169"/>
                </a:lnTo>
                <a:lnTo>
                  <a:pt x="3122" y="294966"/>
                </a:lnTo>
                <a:lnTo>
                  <a:pt x="12216" y="250623"/>
                </a:lnTo>
                <a:lnTo>
                  <a:pt x="26871" y="208553"/>
                </a:lnTo>
                <a:lnTo>
                  <a:pt x="46675" y="169166"/>
                </a:lnTo>
                <a:lnTo>
                  <a:pt x="71218" y="132874"/>
                </a:lnTo>
                <a:lnTo>
                  <a:pt x="100088" y="100088"/>
                </a:lnTo>
                <a:lnTo>
                  <a:pt x="132874" y="71218"/>
                </a:lnTo>
                <a:lnTo>
                  <a:pt x="169166" y="46675"/>
                </a:lnTo>
                <a:lnTo>
                  <a:pt x="208553" y="26871"/>
                </a:lnTo>
                <a:lnTo>
                  <a:pt x="250623" y="12216"/>
                </a:lnTo>
                <a:lnTo>
                  <a:pt x="294966" y="3122"/>
                </a:lnTo>
                <a:lnTo>
                  <a:pt x="341167" y="0"/>
                </a:lnTo>
                <a:lnTo>
                  <a:pt x="3949335" y="0"/>
                </a:lnTo>
                <a:lnTo>
                  <a:pt x="3995536" y="3122"/>
                </a:lnTo>
                <a:lnTo>
                  <a:pt x="4039879" y="12216"/>
                </a:lnTo>
                <a:lnTo>
                  <a:pt x="4081949" y="26871"/>
                </a:lnTo>
                <a:lnTo>
                  <a:pt x="4121336" y="46675"/>
                </a:lnTo>
                <a:lnTo>
                  <a:pt x="4157628" y="71218"/>
                </a:lnTo>
                <a:lnTo>
                  <a:pt x="4190414" y="100088"/>
                </a:lnTo>
                <a:lnTo>
                  <a:pt x="4219284" y="132874"/>
                </a:lnTo>
                <a:lnTo>
                  <a:pt x="4243827" y="169166"/>
                </a:lnTo>
                <a:lnTo>
                  <a:pt x="4263631" y="208553"/>
                </a:lnTo>
                <a:lnTo>
                  <a:pt x="4278286" y="250623"/>
                </a:lnTo>
                <a:lnTo>
                  <a:pt x="4287380" y="294966"/>
                </a:lnTo>
                <a:lnTo>
                  <a:pt x="4290503" y="341169"/>
                </a:lnTo>
                <a:lnTo>
                  <a:pt x="4290503" y="6120058"/>
                </a:lnTo>
                <a:lnTo>
                  <a:pt x="4287380" y="6166261"/>
                </a:lnTo>
                <a:lnTo>
                  <a:pt x="4278286" y="6210604"/>
                </a:lnTo>
                <a:lnTo>
                  <a:pt x="4263631" y="6252674"/>
                </a:lnTo>
                <a:lnTo>
                  <a:pt x="4243827" y="6292060"/>
                </a:lnTo>
                <a:lnTo>
                  <a:pt x="4219284" y="6328352"/>
                </a:lnTo>
                <a:lnTo>
                  <a:pt x="4190414" y="6361139"/>
                </a:lnTo>
                <a:lnTo>
                  <a:pt x="4157628" y="6390009"/>
                </a:lnTo>
                <a:lnTo>
                  <a:pt x="4121336" y="6414552"/>
                </a:lnTo>
                <a:lnTo>
                  <a:pt x="4081949" y="6434356"/>
                </a:lnTo>
                <a:lnTo>
                  <a:pt x="4039879" y="6449010"/>
                </a:lnTo>
                <a:lnTo>
                  <a:pt x="3995536" y="6458104"/>
                </a:lnTo>
                <a:lnTo>
                  <a:pt x="3949332" y="6461227"/>
                </a:lnTo>
                <a:close/>
              </a:path>
            </a:pathLst>
          </a:custGeom>
          <a:solidFill>
            <a:srgbClr val="2D2E2F">
              <a:alpha val="30999"/>
            </a:srgbClr>
          </a:solidFill>
        </p:spPr>
        <p:txBody>
          <a:bodyPr wrap="square" lIns="0" tIns="0" rIns="0" bIns="0" rtlCol="0"/>
          <a:lstStyle/>
          <a:p>
            <a:r>
              <a:rPr lang="en-US" sz="2800" b="1" dirty="0">
                <a:solidFill>
                  <a:schemeClr val="bg1"/>
                </a:solidFill>
              </a:rPr>
              <a:t>Global Adaptation</a:t>
            </a:r>
            <a:r>
              <a:rPr lang="en-US" sz="2800" dirty="0">
                <a:solidFill>
                  <a:schemeClr val="bg1"/>
                </a:solidFill>
              </a:rPr>
              <a:t>: Expand the solution for use in international education systems, with adaptations for regional and cultural factors.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Blockchain for Credentials</a:t>
            </a:r>
            <a:r>
              <a:rPr lang="en-US" sz="2800" dirty="0">
                <a:solidFill>
                  <a:schemeClr val="bg1"/>
                </a:solidFill>
              </a:rPr>
              <a:t>: Use blockchain technology to securely store and verify student certifications and academic records.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Career Path Guidance</a:t>
            </a:r>
            <a:r>
              <a:rPr lang="en-US" sz="2800" dirty="0">
                <a:solidFill>
                  <a:schemeClr val="bg1"/>
                </a:solidFill>
              </a:rPr>
              <a:t>: AI-driven tools could analyze students' interests and performance to suggest potential career paths.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Immersive Learning with AR/VR</a:t>
            </a:r>
            <a:r>
              <a:rPr lang="en-US" sz="2800" dirty="0">
                <a:solidFill>
                  <a:schemeClr val="bg1"/>
                </a:solidFill>
              </a:rPr>
              <a:t>: Introduce virtual and augmented reality for more engaging and interactive learning experiences, especially for struggling students.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Partnership with EdTech Platforms</a:t>
            </a:r>
            <a:r>
              <a:rPr lang="en-US" sz="2800" dirty="0">
                <a:solidFill>
                  <a:schemeClr val="bg1"/>
                </a:solidFill>
              </a:rPr>
              <a:t>: Integrate with online learning platforms (Coursera, edX) to offer supplemental educational resources tailored to students' learning paths.</a:t>
            </a:r>
            <a:endParaRPr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4235"/>
            <a:ext cx="3542057" cy="92627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93210" y="0"/>
            <a:ext cx="4694790" cy="10286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903538"/>
            <a:ext cx="3539035" cy="50196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1387" y="3836325"/>
            <a:ext cx="9858375" cy="2106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650" spc="1764" dirty="0"/>
              <a:t>Thank</a:t>
            </a:r>
            <a:r>
              <a:rPr sz="13650" spc="-375" dirty="0"/>
              <a:t> </a:t>
            </a:r>
            <a:r>
              <a:rPr sz="13650" spc="1755" dirty="0"/>
              <a:t>You</a:t>
            </a:r>
            <a:endParaRPr sz="13650"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8287997" cy="13144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8958436"/>
            <a:ext cx="18287997" cy="13239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575</Words>
  <Application>Microsoft Office PowerPoint</Application>
  <PresentationFormat>Custom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Times New Roman</vt:lpstr>
      <vt:lpstr>TradeGothic</vt:lpstr>
      <vt:lpstr>Trebuchet MS</vt:lpstr>
      <vt:lpstr>Verdana</vt:lpstr>
      <vt:lpstr>Office Theme</vt:lpstr>
      <vt:lpstr>IEEE SSH 2024 HACKATHON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Purple Futuristic Modern 3D Tech Company Business Presentation</dc:title>
  <dc:creator>Anand Sagar</dc:creator>
  <cp:keywords>DAGRx_fcAx8,BAGQPfN3xfA</cp:keywords>
  <cp:lastModifiedBy>Nawin Vignesh P</cp:lastModifiedBy>
  <cp:revision>7</cp:revision>
  <dcterms:created xsi:type="dcterms:W3CDTF">2024-09-29T02:19:22Z</dcterms:created>
  <dcterms:modified xsi:type="dcterms:W3CDTF">2024-09-29T06:36:18Z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2024-09-25T00:00:00Z</vt:filetime>
  </property>
  <property fmtid="{D5CDD505-2E9C-101B-9397-08002B2CF9AE}" pid="3" name="Creator">
    <vt:lpwstr>Canva</vt:lpwstr>
  </property>
  <property fmtid="{D5CDD505-2E9C-101B-9397-08002B2CF9AE}" pid="4" name="LastSaved">
    <vt:filetime>2024-09-29T00:00:00Z</vt:filetime>
  </property>
</Properties>
</file>